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Urbanist Medium"/>
      <p:regular r:id="rId8"/>
      <p:bold r:id="rId9"/>
      <p:italic r:id="rId10"/>
      <p:boldItalic r:id="rId11"/>
    </p:embeddedFont>
    <p:embeddedFont>
      <p:font typeface="Urbanist SemiBold"/>
      <p:regular r:id="rId12"/>
      <p:bold r:id="rId13"/>
      <p:italic r:id="rId14"/>
      <p:boldItalic r:id="rId15"/>
    </p:embeddedFont>
    <p:embeddedFont>
      <p:font typeface="Urbanist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UrbanistMedium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UrbanistMedium-regular.fntdata"/><Relationship Id="rId11" Type="http://schemas.openxmlformats.org/officeDocument/2006/relationships/font" Target="fonts/UrbanistMedium-boldItalic.fntdata"/><Relationship Id="rId10" Type="http://schemas.openxmlformats.org/officeDocument/2006/relationships/font" Target="fonts/UrbanistMedium-italic.fntdata"/><Relationship Id="rId13" Type="http://schemas.openxmlformats.org/officeDocument/2006/relationships/font" Target="fonts/UrbanistSemiBold-bold.fntdata"/><Relationship Id="rId12" Type="http://schemas.openxmlformats.org/officeDocument/2006/relationships/font" Target="fonts/UrbanistSemiBold-regular.fntdata"/><Relationship Id="rId15" Type="http://schemas.openxmlformats.org/officeDocument/2006/relationships/font" Target="fonts/UrbanistSemiBold-boldItalic.fntdata"/><Relationship Id="rId14" Type="http://schemas.openxmlformats.org/officeDocument/2006/relationships/font" Target="fonts/UrbanistSemiBold-italic.fntdata"/><Relationship Id="rId17" Type="http://schemas.openxmlformats.org/officeDocument/2006/relationships/font" Target="fonts/Urbanist-bold.fntdata"/><Relationship Id="rId16" Type="http://schemas.openxmlformats.org/officeDocument/2006/relationships/font" Target="fonts/Urbanist-regular.fntdata"/><Relationship Id="rId19" Type="http://schemas.openxmlformats.org/officeDocument/2006/relationships/font" Target="fonts/Urbanist-boldItalic.fntdata"/><Relationship Id="rId18" Type="http://schemas.openxmlformats.org/officeDocument/2006/relationships/font" Target="fonts/Urbanist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c2200c6c6f_0_5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c2200c6c6f_0_5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E0E0E"/>
                </a:solidFill>
              </a:rPr>
              <a:t>Are there scripts that don’t look big on paper but generate disproportionate engineering effort?</a:t>
            </a:r>
            <a:endParaRPr sz="1200">
              <a:solidFill>
                <a:srgbClr val="0E0E0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E0E0E"/>
                </a:solidFill>
              </a:rPr>
              <a:t>If you had to operationalize “underserved” into metrics, what signals would matter most?</a:t>
            </a:r>
            <a:endParaRPr sz="1200">
              <a:solidFill>
                <a:srgbClr val="0E0E0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E0E0E"/>
                </a:solidFill>
              </a:rPr>
              <a:t>If we had a model that compared readability robustness across scripts under degraded conditions, would that be useful in your workflow?</a:t>
            </a:r>
            <a:endParaRPr sz="1200">
              <a:solidFill>
                <a:srgbClr val="0E0E0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E0E0E"/>
                </a:solidFill>
              </a:rPr>
              <a:t>How are script investment decisions currently made;  customer-driven, region-driven, or engineering-driven?</a:t>
            </a:r>
            <a:r>
              <a:rPr b="1" lang="en" sz="1200">
                <a:solidFill>
                  <a:srgbClr val="0E0E0E"/>
                </a:solidFill>
              </a:rPr>
              <a:t> If so, where?</a:t>
            </a:r>
            <a:r>
              <a:rPr lang="en" sz="1200">
                <a:solidFill>
                  <a:srgbClr val="0E0E0E"/>
                </a:solidFill>
              </a:rPr>
              <a:t>,</a:t>
            </a:r>
            <a:r>
              <a:rPr b="1" lang="en" sz="1200">
                <a:solidFill>
                  <a:srgbClr val="0E0E0E"/>
                </a:solidFill>
              </a:rPr>
              <a:t> For a 4-month project, what would you focus on first if you were me?</a:t>
            </a:r>
            <a:endParaRPr b="1" sz="1200">
              <a:solidFill>
                <a:srgbClr val="0E0E0E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c2200c6c6f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3c2200c6c6f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 amt="50000"/>
          </a:blip>
          <a:srcRect b="8145" l="3133" r="7834" t="16785"/>
          <a:stretch/>
        </p:blipFill>
        <p:spPr>
          <a:xfrm flipH="1" rot="10800000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/>
          <p:nvPr/>
        </p:nvSpPr>
        <p:spPr>
          <a:xfrm flipH="1" rot="10800000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" name="Google Shape;16;p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" name="Google Shape;18;p2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9" name="Google Shape;19;p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" name="Google Shape;20;p2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" name="Google Shape;21;p2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" name="Google Shape;22;p2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" name="Google Shape;23;p2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2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" name="Google Shape;30;p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32" name="Google Shape;32;p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values">
  <p:cSld name="BLANK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6" name="Google Shape;36;p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7" name="Google Shape;37;p4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" name="Google Shape;39;p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41" name="Google Shape;41;p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" name="Google Shape;42;p4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3" name="Google Shape;43;p4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4" name="Google Shape;44;p4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5" name="Google Shape;45;p4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46" name="Google Shape;46;p4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nd image ALT 2">
  <p:cSld name="CUSTOM_3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/>
          <p:nvPr>
            <p:ph idx="2" type="pic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5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3" type="title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1" type="body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4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5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6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6" name="Google Shape;56;p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58" name="Google Shape;58;p5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" name="Google Shape;59;p5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" name="Google Shape;60;p5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" name="Google Shape;61;p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3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"/>
          <p:cNvSpPr txBox="1"/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4" name="Google Shape;64;p6"/>
          <p:cNvSpPr/>
          <p:nvPr>
            <p:ph idx="2" type="pic"/>
          </p:nvPr>
        </p:nvSpPr>
        <p:spPr>
          <a:xfrm>
            <a:off x="4523050" y="7379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6"/>
          <p:cNvSpPr/>
          <p:nvPr>
            <p:ph idx="3" type="pic"/>
          </p:nvPr>
        </p:nvSpPr>
        <p:spPr>
          <a:xfrm>
            <a:off x="6752100" y="7377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6"/>
          <p:cNvSpPr/>
          <p:nvPr>
            <p:ph idx="4" type="pic"/>
          </p:nvPr>
        </p:nvSpPr>
        <p:spPr>
          <a:xfrm>
            <a:off x="4523050" y="2158000"/>
            <a:ext cx="4394100" cy="2282700"/>
          </a:xfrm>
          <a:prstGeom prst="roundRect">
            <a:avLst>
              <a:gd fmla="val 610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6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68" name="Google Shape;68;p6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9" name="Google Shape;69;p6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0" name="Google Shape;70;p6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1" name="Google Shape;71;p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3" name="Google Shape;73;p6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74" name="Google Shape;74;p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BLANK_1_1_1_1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7"/>
          <p:cNvPicPr preferRelativeResize="0"/>
          <p:nvPr/>
        </p:nvPicPr>
        <p:blipFill rotWithShape="1">
          <a:blip r:embed="rId2">
            <a:alphaModFix amt="60000"/>
          </a:blip>
          <a:srcRect b="14588" l="0" r="15469" t="0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8" name="Google Shape;78;p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9" name="Google Shape;79;p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0" name="Google Shape;80;p7"/>
          <p:cNvSpPr txBox="1"/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81" name="Google Shape;81;p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" name="Google Shape;82;p7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3" name="Google Shape;83;p7"/>
          <p:cNvSpPr txBox="1"/>
          <p:nvPr>
            <p:ph idx="5" type="subTitle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4" name="Google Shape;84;p7"/>
          <p:cNvSpPr txBox="1"/>
          <p:nvPr>
            <p:ph idx="6" type="subTitle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5" name="Google Shape;85;p7"/>
          <p:cNvSpPr txBox="1"/>
          <p:nvPr>
            <p:ph idx="7" type="subTitle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6" name="Google Shape;86;p7"/>
          <p:cNvSpPr txBox="1"/>
          <p:nvPr>
            <p:ph idx="8" type="subTitle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7" name="Google Shape;87;p7"/>
          <p:cNvSpPr txBox="1"/>
          <p:nvPr>
            <p:ph idx="9" type="subTitle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8" name="Google Shape;88;p7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7"/>
          <p:cNvSpPr txBox="1"/>
          <p:nvPr>
            <p:ph idx="14" type="subTitle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7"/>
          <p:cNvSpPr txBox="1"/>
          <p:nvPr>
            <p:ph idx="15" type="subTitle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" name="Google Shape;91;p7"/>
          <p:cNvSpPr txBox="1"/>
          <p:nvPr>
            <p:ph idx="16" type="subTitle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7"/>
          <p:cNvSpPr txBox="1"/>
          <p:nvPr>
            <p:ph idx="17" type="subTitle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3" name="Google Shape;93;p7"/>
          <p:cNvSpPr txBox="1"/>
          <p:nvPr>
            <p:ph idx="18" type="subTitle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" name="Google Shape;94;p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s">
  <p:cSld name="BLANK_1_1_1_1_2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"/>
          <p:cNvSpPr/>
          <p:nvPr>
            <p:ph idx="2" type="pic"/>
          </p:nvPr>
        </p:nvSpPr>
        <p:spPr>
          <a:xfrm>
            <a:off x="46189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98" name="Google Shape;98;p8"/>
          <p:cNvSpPr txBox="1"/>
          <p:nvPr>
            <p:ph idx="1" type="subTitle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99" name="Google Shape;99;p8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0" name="Google Shape;100;p8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1" name="Google Shape;101;p8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2" name="Google Shape;102;p8"/>
          <p:cNvSpPr txBox="1"/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3" name="Google Shape;103;p8"/>
          <p:cNvSpPr txBox="1"/>
          <p:nvPr>
            <p:ph idx="6" type="subTitle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4" name="Google Shape;104;p8"/>
          <p:cNvSpPr/>
          <p:nvPr>
            <p:ph idx="7" type="pic"/>
          </p:nvPr>
        </p:nvSpPr>
        <p:spPr>
          <a:xfrm>
            <a:off x="608070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05" name="Google Shape;105;p8"/>
          <p:cNvSpPr txBox="1"/>
          <p:nvPr>
            <p:ph idx="8" type="subTitle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6" name="Google Shape;106;p8"/>
          <p:cNvSpPr txBox="1"/>
          <p:nvPr>
            <p:ph idx="9" type="subTitle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7" name="Google Shape;107;p8"/>
          <p:cNvSpPr/>
          <p:nvPr>
            <p:ph idx="13" type="pic"/>
          </p:nvPr>
        </p:nvSpPr>
        <p:spPr>
          <a:xfrm>
            <a:off x="75424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08" name="Google Shape;108;p8"/>
          <p:cNvSpPr txBox="1"/>
          <p:nvPr>
            <p:ph idx="14" type="subTitle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9" name="Google Shape;109;p8"/>
          <p:cNvSpPr txBox="1"/>
          <p:nvPr>
            <p:ph idx="15" type="subTitle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0" name="Google Shape;110;p8"/>
          <p:cNvSpPr/>
          <p:nvPr>
            <p:ph idx="16" type="pic"/>
          </p:nvPr>
        </p:nvSpPr>
        <p:spPr>
          <a:xfrm>
            <a:off x="46189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1" name="Google Shape;111;p8"/>
          <p:cNvSpPr txBox="1"/>
          <p:nvPr>
            <p:ph idx="17" type="subTitle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2" name="Google Shape;112;p8"/>
          <p:cNvSpPr txBox="1"/>
          <p:nvPr>
            <p:ph idx="18" type="subTitle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3" name="Google Shape;113;p8"/>
          <p:cNvSpPr/>
          <p:nvPr>
            <p:ph idx="19" type="pic"/>
          </p:nvPr>
        </p:nvSpPr>
        <p:spPr>
          <a:xfrm>
            <a:off x="608070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4" name="Google Shape;114;p8"/>
          <p:cNvSpPr txBox="1"/>
          <p:nvPr>
            <p:ph idx="20" type="subTitle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5" name="Google Shape;115;p8"/>
          <p:cNvSpPr txBox="1"/>
          <p:nvPr>
            <p:ph idx="21" type="subTitle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6" name="Google Shape;116;p8"/>
          <p:cNvSpPr/>
          <p:nvPr>
            <p:ph idx="22" type="pic"/>
          </p:nvPr>
        </p:nvSpPr>
        <p:spPr>
          <a:xfrm>
            <a:off x="75424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7" name="Google Shape;117;p8"/>
          <p:cNvSpPr txBox="1"/>
          <p:nvPr>
            <p:ph idx="23" type="subTitle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8" name="Google Shape;118;p8"/>
          <p:cNvSpPr txBox="1"/>
          <p:nvPr>
            <p:ph idx="24" type="subTitle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cxnSp>
        <p:nvCxnSpPr>
          <p:cNvPr id="119" name="Google Shape;119;p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" name="Google Shape;120;p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BLANK_1_1_1_1_1_1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9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125" name="Google Shape;125;p9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6" name="Google Shape;126;p9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7" name="Google Shape;127;p9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8" name="Google Shape;128;p9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29" name="Google Shape;129;p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" name="Google Shape;130;p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/ images">
  <p:cSld name="BLANK_1_1_1_1_1_1_1_1_1_1_3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4" name="Google Shape;134;p10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5" name="Google Shape;135;p10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grpSp>
        <p:nvGrpSpPr>
          <p:cNvPr id="136" name="Google Shape;136;p10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38" name="Google Shape;138;p10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39" name="Google Shape;139;p1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" name="Google Shape;140;p1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41" name="Google Shape;141;p10"/>
          <p:cNvSpPr/>
          <p:nvPr>
            <p:ph idx="4" type="pic"/>
          </p:nvPr>
        </p:nvSpPr>
        <p:spPr>
          <a:xfrm>
            <a:off x="4267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42" name="Google Shape;142;p10"/>
          <p:cNvSpPr txBox="1"/>
          <p:nvPr>
            <p:ph idx="5" type="subTitle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3" name="Google Shape;143;p10"/>
          <p:cNvSpPr txBox="1"/>
          <p:nvPr>
            <p:ph idx="6" type="subTitle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4" name="Google Shape;144;p10"/>
          <p:cNvSpPr txBox="1"/>
          <p:nvPr>
            <p:ph idx="7" type="body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45" name="Google Shape;145;p10"/>
          <p:cNvSpPr/>
          <p:nvPr>
            <p:ph idx="8" type="pic"/>
          </p:nvPr>
        </p:nvSpPr>
        <p:spPr>
          <a:xfrm>
            <a:off x="26218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46" name="Google Shape;146;p10"/>
          <p:cNvSpPr txBox="1"/>
          <p:nvPr>
            <p:ph idx="9" type="subTitle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7" name="Google Shape;147;p10"/>
          <p:cNvSpPr txBox="1"/>
          <p:nvPr>
            <p:ph idx="13" type="subTitle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8" name="Google Shape;148;p10"/>
          <p:cNvSpPr txBox="1"/>
          <p:nvPr>
            <p:ph idx="14" type="body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49" name="Google Shape;149;p10"/>
          <p:cNvSpPr/>
          <p:nvPr>
            <p:ph idx="15" type="pic"/>
          </p:nvPr>
        </p:nvSpPr>
        <p:spPr>
          <a:xfrm>
            <a:off x="48169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50" name="Google Shape;150;p10"/>
          <p:cNvSpPr txBox="1"/>
          <p:nvPr>
            <p:ph idx="16" type="subTitle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1" name="Google Shape;151;p10"/>
          <p:cNvSpPr txBox="1"/>
          <p:nvPr>
            <p:ph idx="17" type="subTitle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2" name="Google Shape;152;p10"/>
          <p:cNvSpPr txBox="1"/>
          <p:nvPr>
            <p:ph idx="18" type="body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53" name="Google Shape;153;p10"/>
          <p:cNvSpPr/>
          <p:nvPr>
            <p:ph idx="19" type="pic"/>
          </p:nvPr>
        </p:nvSpPr>
        <p:spPr>
          <a:xfrm>
            <a:off x="70120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54" name="Google Shape;154;p10"/>
          <p:cNvSpPr txBox="1"/>
          <p:nvPr>
            <p:ph idx="20" type="subTitle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5" name="Google Shape;155;p10"/>
          <p:cNvSpPr txBox="1"/>
          <p:nvPr>
            <p:ph idx="21" type="subTitle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6" name="Google Shape;156;p10"/>
          <p:cNvSpPr txBox="1"/>
          <p:nvPr>
            <p:ph idx="22" type="body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cxnSp>
        <p:nvCxnSpPr>
          <p:cNvPr id="157" name="Google Shape;157;p1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" name="Google Shape;158;p1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rt big title and body">
  <p:cSld name="BLANK_1_1_1_1_1_1_1_1_1_1_2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161" name="Google Shape;161;p11"/>
          <p:cNvPicPr preferRelativeResize="0"/>
          <p:nvPr/>
        </p:nvPicPr>
        <p:blipFill rotWithShape="1">
          <a:blip r:embed="rId2">
            <a:alphaModFix/>
          </a:blip>
          <a:srcRect b="42245" l="17240" r="25038" t="34"/>
          <a:stretch/>
        </p:blipFill>
        <p:spPr>
          <a:xfrm>
            <a:off x="0" y="-289"/>
            <a:ext cx="9144000" cy="51441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2" name="Google Shape;162;p11"/>
          <p:cNvSpPr txBox="1"/>
          <p:nvPr>
            <p:ph idx="1" type="subTitle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63" name="Google Shape;163;p11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4" name="Google Shape;164;p11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5" name="Google Shape;165;p11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6" name="Google Shape;166;p11"/>
          <p:cNvSpPr txBox="1"/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67" name="Google Shape;167;p1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" name="Google Shape;168;p11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" name="Google Shape;169;p11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" name="Google Shape;170;p1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1_1_1_1_1_1_1_1_1_2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74" name="Google Shape;174;p12"/>
          <p:cNvSpPr/>
          <p:nvPr>
            <p:ph idx="2" type="pic"/>
          </p:nvPr>
        </p:nvSpPr>
        <p:spPr>
          <a:xfrm>
            <a:off x="5342000" y="457200"/>
            <a:ext cx="3573300" cy="3995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75" name="Google Shape;175;p12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6" name="Google Shape;176;p12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7" name="Google Shape;177;p12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8" name="Google Shape;178;p12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9" name="Google Shape;179;p12"/>
          <p:cNvSpPr txBox="1"/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cxnSp>
        <p:nvCxnSpPr>
          <p:cNvPr id="180" name="Google Shape;180;p1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1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2" name="Google Shape;182;p1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cards">
  <p:cSld name="CUSTOM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/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5" name="Google Shape;185;p13"/>
          <p:cNvSpPr txBox="1"/>
          <p:nvPr>
            <p:ph idx="1" type="subTitle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6" name="Google Shape;186;p13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7" name="Google Shape;187;p13"/>
          <p:cNvSpPr txBox="1"/>
          <p:nvPr>
            <p:ph idx="3" type="title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8" name="Google Shape;188;p13"/>
          <p:cNvSpPr txBox="1"/>
          <p:nvPr>
            <p:ph idx="4" type="subTitle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9" name="Google Shape;189;p13"/>
          <p:cNvSpPr txBox="1"/>
          <p:nvPr>
            <p:ph idx="5" type="subTitle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0" name="Google Shape;190;p13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1" name="Google Shape;191;p13"/>
          <p:cNvSpPr txBox="1"/>
          <p:nvPr>
            <p:ph idx="7" type="subTitle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2" name="Google Shape;192;p13"/>
          <p:cNvSpPr txBox="1"/>
          <p:nvPr>
            <p:ph idx="8" type="subTitle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3" name="Google Shape;193;p13"/>
          <p:cNvSpPr txBox="1"/>
          <p:nvPr>
            <p:ph idx="9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94" name="Google Shape;194;p13"/>
          <p:cNvSpPr txBox="1"/>
          <p:nvPr>
            <p:ph idx="1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95" name="Google Shape;195;p13"/>
          <p:cNvSpPr txBox="1"/>
          <p:nvPr>
            <p:ph idx="1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96" name="Google Shape;196;p1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97" name="Google Shape;197;p13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198" name="Google Shape;198;p13"/>
            <p:cNvCxnSpPr/>
            <p:nvPr/>
          </p:nvCxnSpPr>
          <p:spPr>
            <a:xfrm flipH="1" rot="-5400000">
              <a:off x="498725" y="2069800"/>
              <a:ext cx="103500" cy="1035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" name="Google Shape;199;p13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0" name="Google Shape;200;p1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cards">
  <p:cSld name="CUSTOM_1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"/>
          <p:cNvSpPr txBox="1"/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204" name="Google Shape;204;p14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5" name="Google Shape;205;p14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6" name="Google Shape;206;p14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07" name="Google Shape;207;p1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8" name="Google Shape;208;p14"/>
          <p:cNvSpPr txBox="1"/>
          <p:nvPr>
            <p:ph idx="4" type="title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09" name="Google Shape;209;p14"/>
          <p:cNvSpPr txBox="1"/>
          <p:nvPr>
            <p:ph idx="5" type="subTitle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0" name="Google Shape;210;p14"/>
          <p:cNvSpPr txBox="1"/>
          <p:nvPr>
            <p:ph idx="6" type="subTitle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1" name="Google Shape;211;p14"/>
          <p:cNvSpPr txBox="1"/>
          <p:nvPr>
            <p:ph idx="7" type="title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2" name="Google Shape;212;p14"/>
          <p:cNvSpPr txBox="1"/>
          <p:nvPr>
            <p:ph idx="8" type="subTitle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3" name="Google Shape;213;p14"/>
          <p:cNvSpPr txBox="1"/>
          <p:nvPr>
            <p:ph idx="9" type="subTitle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4" name="Google Shape;214;p14"/>
          <p:cNvSpPr txBox="1"/>
          <p:nvPr>
            <p:ph idx="13" type="title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5" name="Google Shape;215;p14"/>
          <p:cNvSpPr txBox="1"/>
          <p:nvPr>
            <p:ph idx="14" type="subTitle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6" name="Google Shape;216;p14"/>
          <p:cNvSpPr txBox="1"/>
          <p:nvPr>
            <p:ph idx="15" type="subTitle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7" name="Google Shape;217;p14"/>
          <p:cNvSpPr txBox="1"/>
          <p:nvPr>
            <p:ph idx="16" type="title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8" name="Google Shape;218;p14"/>
          <p:cNvSpPr txBox="1"/>
          <p:nvPr>
            <p:ph idx="17" type="subTitle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9" name="Google Shape;219;p14"/>
          <p:cNvSpPr txBox="1"/>
          <p:nvPr>
            <p:ph idx="18" type="subTitle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0" name="Google Shape;220;p1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1" name="Google Shape;221;p1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7_1_1_1_1_1_1_1_1_1_1_1_1_1_1_1_1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15"/>
          <p:cNvPicPr preferRelativeResize="0"/>
          <p:nvPr/>
        </p:nvPicPr>
        <p:blipFill rotWithShape="1">
          <a:blip r:embed="rId2">
            <a:alphaModFix/>
          </a:blip>
          <a:srcRect b="14588" l="0" r="15469" t="0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4" name="Google Shape;224;p1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" name="Google Shape;225;p15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6" name="Google Shape;226;p15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7" name="Google Shape;227;p15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8" name="Google Shape;228;p15"/>
          <p:cNvSpPr txBox="1"/>
          <p:nvPr>
            <p:ph idx="4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9" name="Google Shape;229;p15"/>
          <p:cNvSpPr txBox="1"/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0" name="Google Shape;230;p15"/>
          <p:cNvSpPr txBox="1"/>
          <p:nvPr>
            <p:ph idx="5" type="subTitle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1" name="Google Shape;231;p15"/>
          <p:cNvSpPr txBox="1"/>
          <p:nvPr>
            <p:ph idx="6" type="body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2" name="Google Shape;232;p15"/>
          <p:cNvSpPr txBox="1"/>
          <p:nvPr>
            <p:ph idx="7" type="title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3" name="Google Shape;233;p15"/>
          <p:cNvSpPr txBox="1"/>
          <p:nvPr>
            <p:ph idx="8" type="subTitle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4" name="Google Shape;234;p15"/>
          <p:cNvSpPr txBox="1"/>
          <p:nvPr>
            <p:ph idx="9" type="body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5" name="Google Shape;235;p15"/>
          <p:cNvSpPr txBox="1"/>
          <p:nvPr>
            <p:ph idx="13" type="title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6" name="Google Shape;236;p15"/>
          <p:cNvSpPr txBox="1"/>
          <p:nvPr>
            <p:ph idx="14" type="subTitle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7" name="Google Shape;237;p15"/>
          <p:cNvSpPr txBox="1"/>
          <p:nvPr>
            <p:ph idx="15" type="body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8" name="Google Shape;238;p15"/>
          <p:cNvSpPr txBox="1"/>
          <p:nvPr>
            <p:ph idx="16" type="title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9" name="Google Shape;239;p15"/>
          <p:cNvSpPr txBox="1"/>
          <p:nvPr>
            <p:ph idx="17" type="subTitle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40" name="Google Shape;240;p15"/>
          <p:cNvSpPr txBox="1"/>
          <p:nvPr>
            <p:ph idx="18" type="body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1" name="Google Shape;241;p15"/>
          <p:cNvSpPr txBox="1"/>
          <p:nvPr>
            <p:ph idx="19" type="title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2" name="Google Shape;242;p1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3" name="Google Shape;243;p1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s">
  <p:cSld name="CUSTOM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6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46" name="Google Shape;246;p16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" name="Google Shape;247;p16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8" name="Google Shape;248;p16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9" name="Google Shape;249;p16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50" name="Google Shape;250;p1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1" name="Google Shape;251;p16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52" name="Google Shape;252;p16"/>
          <p:cNvSpPr/>
          <p:nvPr>
            <p:ph idx="5" type="pic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16"/>
          <p:cNvSpPr txBox="1"/>
          <p:nvPr>
            <p:ph idx="6" type="body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4" name="Google Shape;254;p16"/>
          <p:cNvSpPr txBox="1"/>
          <p:nvPr>
            <p:ph idx="7" type="body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5" name="Google Shape;255;p16"/>
          <p:cNvSpPr txBox="1"/>
          <p:nvPr>
            <p:ph idx="8" type="subTitle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6" name="Google Shape;256;p1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7" name="Google Shape;257;p1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">
  <p:cSld name="CUSTOM_2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0" name="Google Shape;260;p1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1" name="Google Shape;261;p1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62" name="Google Shape;262;p1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3" name="Google Shape;263;p17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fmla="val 96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4" name="Google Shape;264;p17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fmla="val 674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5" name="Google Shape;265;p17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6" name="Google Shape;266;p17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fmla="val 136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7" name="Google Shape;267;p17"/>
          <p:cNvSpPr/>
          <p:nvPr>
            <p:ph idx="4" type="pic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17"/>
          <p:cNvSpPr txBox="1"/>
          <p:nvPr>
            <p:ph idx="5" type="subTitle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b="1"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9" name="Google Shape;269;p17"/>
          <p:cNvSpPr txBox="1"/>
          <p:nvPr>
            <p:ph idx="6" type="body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0" name="Google Shape;270;p17"/>
          <p:cNvSpPr txBox="1"/>
          <p:nvPr>
            <p:ph idx="7" type="subTitle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1" name="Google Shape;271;p17"/>
          <p:cNvSpPr txBox="1"/>
          <p:nvPr>
            <p:ph idx="8" type="body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272" name="Google Shape;272;p17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" name="Google Shape;273;p17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4" name="Google Shape;274;p17"/>
          <p:cNvSpPr txBox="1"/>
          <p:nvPr>
            <p:ph idx="9" type="subTitle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5" name="Google Shape;275;p17"/>
          <p:cNvSpPr txBox="1"/>
          <p:nvPr>
            <p:ph idx="13" type="body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76" name="Google Shape;276;p17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7" name="Google Shape;277;p17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8" name="Google Shape;278;p17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9" name="Google Shape;279;p17"/>
          <p:cNvSpPr txBox="1"/>
          <p:nvPr>
            <p:ph idx="14" type="subTitle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0" name="Google Shape;280;p17"/>
          <p:cNvSpPr txBox="1"/>
          <p:nvPr>
            <p:ph idx="15" type="subTitle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1" name="Google Shape;281;p17"/>
          <p:cNvSpPr txBox="1"/>
          <p:nvPr>
            <p:ph idx="16" type="subTitle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2" name="Google Shape;282;p17"/>
          <p:cNvSpPr txBox="1"/>
          <p:nvPr>
            <p:ph idx="17" type="subTitle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3" name="Google Shape;283;p17"/>
          <p:cNvSpPr txBox="1"/>
          <p:nvPr>
            <p:ph idx="18" type="subTitle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4" name="Google Shape;284;p17"/>
          <p:cNvSpPr txBox="1"/>
          <p:nvPr>
            <p:ph idx="19" type="subTitle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5" name="Google Shape;285;p17"/>
          <p:cNvSpPr txBox="1"/>
          <p:nvPr>
            <p:ph idx="20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6" name="Google Shape;286;p1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7" name="Google Shape;287;p1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4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8"/>
          <p:cNvSpPr txBox="1"/>
          <p:nvPr>
            <p:ph idx="1" type="body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90" name="Google Shape;290;p18"/>
          <p:cNvSpPr txBox="1"/>
          <p:nvPr>
            <p:ph idx="2" type="body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1" name="Google Shape;291;p18"/>
          <p:cNvSpPr txBox="1"/>
          <p:nvPr>
            <p:ph idx="3" type="subTitle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292" name="Google Shape;292;p18"/>
          <p:cNvSpPr txBox="1"/>
          <p:nvPr>
            <p:ph idx="4" type="body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3" name="Google Shape;293;p18"/>
          <p:cNvSpPr txBox="1"/>
          <p:nvPr>
            <p:ph idx="5" type="subTitle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94" name="Google Shape;294;p18"/>
          <p:cNvSpPr txBox="1"/>
          <p:nvPr>
            <p:ph idx="6" type="body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5" name="Google Shape;295;p18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6" name="Google Shape;296;p18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7" name="Google Shape;297;p18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8" name="Google Shape;298;p1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9" name="Google Shape;299;p18"/>
          <p:cNvSpPr txBox="1"/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0" name="Google Shape;300;p18"/>
          <p:cNvSpPr txBox="1"/>
          <p:nvPr>
            <p:ph idx="1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1" name="Google Shape;301;p18"/>
          <p:cNvSpPr txBox="1"/>
          <p:nvPr>
            <p:ph idx="14" type="subTitle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2" name="Google Shape;302;p18"/>
          <p:cNvSpPr txBox="1"/>
          <p:nvPr>
            <p:ph idx="15" type="subTitle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3" name="Google Shape;303;p18"/>
          <p:cNvSpPr txBox="1"/>
          <p:nvPr>
            <p:ph idx="16" type="subTitle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4" name="Google Shape;304;p18"/>
          <p:cNvSpPr txBox="1"/>
          <p:nvPr>
            <p:ph idx="17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18"/>
          <p:cNvSpPr txBox="1"/>
          <p:nvPr>
            <p:ph idx="18" type="subTitle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6" name="Google Shape;306;p18"/>
          <p:cNvSpPr txBox="1"/>
          <p:nvPr>
            <p:ph idx="19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7" name="Google Shape;307;p18"/>
          <p:cNvSpPr txBox="1"/>
          <p:nvPr>
            <p:ph idx="20" type="subTitle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8" name="Google Shape;308;p18"/>
          <p:cNvSpPr txBox="1"/>
          <p:nvPr>
            <p:ph idx="21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09" name="Google Shape;309;p18"/>
          <p:cNvSpPr txBox="1"/>
          <p:nvPr>
            <p:ph idx="22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0" name="Google Shape;310;p18"/>
          <p:cNvSpPr txBox="1"/>
          <p:nvPr>
            <p:ph idx="23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1" name="Google Shape;311;p18"/>
          <p:cNvSpPr txBox="1"/>
          <p:nvPr>
            <p:ph idx="24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2" name="Google Shape;312;p18"/>
          <p:cNvSpPr txBox="1"/>
          <p:nvPr>
            <p:ph idx="25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3" name="Google Shape;313;p18"/>
          <p:cNvSpPr txBox="1"/>
          <p:nvPr>
            <p:ph idx="26" type="body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14" name="Google Shape;314;p1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5" name="Google Shape;315;p1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">
  <p:cSld name="CUSTOM_5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8" name="Google Shape;318;p1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9" name="Google Shape;319;p1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20" name="Google Shape;320;p1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1" name="Google Shape;321;p1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2" name="Google Shape;322;p1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3" name="Google Shape;323;p19"/>
          <p:cNvSpPr txBox="1"/>
          <p:nvPr>
            <p:ph idx="4" type="subTitle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19"/>
          <p:cNvSpPr txBox="1"/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25" name="Google Shape;325;p19"/>
          <p:cNvSpPr txBox="1"/>
          <p:nvPr>
            <p:ph idx="5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6" name="Google Shape;326;p19"/>
          <p:cNvSpPr txBox="1"/>
          <p:nvPr>
            <p:ph idx="6" type="subTitle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7" name="Google Shape;327;p19"/>
          <p:cNvSpPr txBox="1"/>
          <p:nvPr>
            <p:ph idx="7" type="title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/>
        </p:txBody>
      </p:sp>
      <p:sp>
        <p:nvSpPr>
          <p:cNvPr id="328" name="Google Shape;328;p19"/>
          <p:cNvSpPr txBox="1"/>
          <p:nvPr>
            <p:ph idx="8" type="title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29" name="Google Shape;329;p19"/>
          <p:cNvSpPr txBox="1"/>
          <p:nvPr>
            <p:ph idx="9" type="subTitle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0" name="Google Shape;330;p19"/>
          <p:cNvSpPr txBox="1"/>
          <p:nvPr>
            <p:ph idx="13" type="subTitle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1" name="Google Shape;331;p19"/>
          <p:cNvSpPr txBox="1"/>
          <p:nvPr>
            <p:ph idx="14" type="subTitle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2" name="Google Shape;332;p19"/>
          <p:cNvSpPr txBox="1"/>
          <p:nvPr>
            <p:ph idx="15" type="subTitle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35" name="Google Shape;335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0" name="Google Shape;34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3" name="Google Shape;343;p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4" name="Google Shape;344;p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9" name="Google Shape;349;p2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4" name="Google Shape;354;p2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5" name="Google Shape;355;p2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0" name="Google Shape;360;p2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7" name="Google Shape;367;p3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8" name="Google Shape;368;p3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9" name="Google Shape;369;p3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2" name="Google Shape;372;p3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3" name="Google Shape;373;p3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6" name="Google Shape;376;p3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7" name="Google Shape;377;p3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8" name="Google Shape;378;p3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9" name="Google Shape;379;p3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2" name="Google Shape;382;p3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4" name="Google Shape;384;p3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5" name="Google Shape;385;p3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6" name="Google Shape;386;p3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7" name="Google Shape;387;p3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0" name="Google Shape;390;p3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1" name="Google Shape;391;p3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2" name="Google Shape;392;p3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3" name="Google Shape;393;p3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4" name="Google Shape;394;p3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5" name="Google Shape;395;p3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3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7" name="Google Shape;397;p3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0" name="Google Shape;400;p3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3" name="Google Shape;403;p3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4" name="Google Shape;404;p3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5" name="Google Shape;405;p3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6" name="Google Shape;40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7" name="Google Shape;407;p3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8" name="Google Shape;408;p3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1" name="Google Shape;411;p3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2" name="Google Shape;412;p3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3" name="Google Shape;413;p3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4" name="Google Shape;414;p3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5" name="Google Shape;415;p3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6" name="Google Shape;41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7" name="Google Shape;417;p3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8" name="Google Shape;418;p3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9" name="Google Shape;419;p3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4" name="Google Shape;424;p4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4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4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8" name="Google Shape;428;p4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4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0" name="Google Shape;430;p4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4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4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1"/>
          <p:cNvSpPr/>
          <p:nvPr/>
        </p:nvSpPr>
        <p:spPr>
          <a:xfrm>
            <a:off x="228600" y="4239450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38" name="Google Shape;438;p41"/>
          <p:cNvSpPr/>
          <p:nvPr/>
        </p:nvSpPr>
        <p:spPr>
          <a:xfrm>
            <a:off x="1719175" y="4239450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39" name="Google Shape;439;p41"/>
          <p:cNvSpPr txBox="1"/>
          <p:nvPr>
            <p:ph type="title"/>
          </p:nvPr>
        </p:nvSpPr>
        <p:spPr>
          <a:xfrm>
            <a:off x="228600" y="228600"/>
            <a:ext cx="89154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4400">
                <a:solidFill>
                  <a:schemeClr val="lt1"/>
                </a:solidFill>
              </a:rPr>
              <a:t>Identifying Underserved Languages</a:t>
            </a:r>
            <a:endParaRPr sz="4400">
              <a:solidFill>
                <a:schemeClr val="lt1"/>
              </a:solidFill>
            </a:endParaRPr>
          </a:p>
        </p:txBody>
      </p:sp>
      <p:sp>
        <p:nvSpPr>
          <p:cNvPr id="440" name="Google Shape;440;p41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Readability Consortium</a:t>
            </a:r>
            <a:endParaRPr/>
          </a:p>
        </p:txBody>
      </p:sp>
      <p:sp>
        <p:nvSpPr>
          <p:cNvPr id="441" name="Google Shape;441;p41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</a:t>
            </a:r>
            <a:r>
              <a:rPr lang="en"/>
              <a:t>a</a:t>
            </a:r>
            <a:r>
              <a:rPr lang="en"/>
              <a:t>nua</a:t>
            </a:r>
            <a:r>
              <a:rPr lang="en"/>
              <a:t>r</a:t>
            </a:r>
            <a:r>
              <a:rPr lang="en"/>
              <a:t>y</a:t>
            </a:r>
            <a:endParaRPr/>
          </a:p>
        </p:txBody>
      </p:sp>
      <p:sp>
        <p:nvSpPr>
          <p:cNvPr id="442" name="Google Shape;442;p41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443" name="Google Shape;443;p41"/>
          <p:cNvSpPr txBox="1"/>
          <p:nvPr>
            <p:ph idx="5" type="subTitle"/>
          </p:nvPr>
        </p:nvSpPr>
        <p:spPr>
          <a:xfrm>
            <a:off x="297075" y="4301975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Aditya Khadye</a:t>
            </a:r>
            <a:endParaRPr/>
          </a:p>
        </p:txBody>
      </p:sp>
      <p:sp>
        <p:nvSpPr>
          <p:cNvPr id="444" name="Google Shape;444;p41"/>
          <p:cNvSpPr txBox="1"/>
          <p:nvPr>
            <p:ph idx="6" type="subTitle"/>
          </p:nvPr>
        </p:nvSpPr>
        <p:spPr>
          <a:xfrm>
            <a:off x="1786375" y="4301975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Lou Vaughn</a:t>
            </a:r>
            <a:endParaRPr/>
          </a:p>
        </p:txBody>
      </p:sp>
      <p:sp>
        <p:nvSpPr>
          <p:cNvPr id="445" name="Google Shape;445;p41"/>
          <p:cNvSpPr txBox="1"/>
          <p:nvPr>
            <p:ph idx="8" type="subTitle"/>
          </p:nvPr>
        </p:nvSpPr>
        <p:spPr>
          <a:xfrm>
            <a:off x="228591" y="39874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Presented by</a:t>
            </a:r>
            <a:endParaRPr/>
          </a:p>
        </p:txBody>
      </p:sp>
      <p:sp>
        <p:nvSpPr>
          <p:cNvPr id="446" name="Google Shape;446;p41"/>
          <p:cNvSpPr txBox="1"/>
          <p:nvPr/>
        </p:nvSpPr>
        <p:spPr>
          <a:xfrm>
            <a:off x="238125" y="1092000"/>
            <a:ext cx="4890900" cy="5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Goal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 A Method for Identifying Writing Systems that are widely read digitally but have lower typographic 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infrastructure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maturity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47" name="Google Shape;447;p41"/>
          <p:cNvSpPr txBox="1"/>
          <p:nvPr/>
        </p:nvSpPr>
        <p:spPr>
          <a:xfrm>
            <a:off x="5723875" y="1614875"/>
            <a:ext cx="3373500" cy="6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Deliverables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 Open source (Apache 2.0) Dataset, ML model, Ranked List, TIS heatmap, 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Recommendation white paper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48" name="Google Shape;448;p41"/>
          <p:cNvSpPr txBox="1"/>
          <p:nvPr/>
        </p:nvSpPr>
        <p:spPr>
          <a:xfrm>
            <a:off x="5754300" y="1008138"/>
            <a:ext cx="28650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Outcome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 evidence based 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prioritization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for global typography investment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49" name="Google Shape;449;p41"/>
          <p:cNvSpPr txBox="1"/>
          <p:nvPr/>
        </p:nvSpPr>
        <p:spPr>
          <a:xfrm>
            <a:off x="297075" y="1719125"/>
            <a:ext cx="45912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Pilot Scripts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 Top 8 scripts except Latin by population of main countries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0" name="Google Shape;450;p41"/>
          <p:cNvSpPr txBox="1"/>
          <p:nvPr/>
        </p:nvSpPr>
        <p:spPr>
          <a:xfrm>
            <a:off x="320625" y="2809288"/>
            <a:ext cx="8109300" cy="13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AutoNum type="arabicPeriod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What causes an underserved language to have a font developed for it?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AutoNum type="arabicPeriod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If you had to operationalize “underserved” into metrics, what signals would matter most?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AutoNum type="arabicPeriod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If we had a model that compared readability robustness across scripts under degraded conditions, would that be useful in your workflow?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AutoNum type="arabicPeriod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How are script investment decisions currently made;  customer-driven, region-driven, or engineering-driven?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1" name="Google Shape;451;p41"/>
          <p:cNvSpPr txBox="1"/>
          <p:nvPr/>
        </p:nvSpPr>
        <p:spPr>
          <a:xfrm>
            <a:off x="103125" y="2517326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Unknowns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 	</a:t>
            </a:r>
            <a:endParaRPr/>
          </a:p>
        </p:txBody>
      </p:sp>
      <p:pic>
        <p:nvPicPr>
          <p:cNvPr id="452" name="Google Shape;45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6525" y="4075051"/>
            <a:ext cx="1530849" cy="60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2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42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42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42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42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42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42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42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42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66" name="Google Shape;46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87" y="26314"/>
            <a:ext cx="9109801" cy="44460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